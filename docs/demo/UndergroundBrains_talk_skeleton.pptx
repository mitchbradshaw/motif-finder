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53a9b91-2b1f-1671-26d6-aee444f684e2}">
          <p14:sldIdLst>
            <p14:sldId id="256"/>
            <p14:sldId id="257"/>
            <p14:sldId id="258"/>
          </p14:sldIdLst>
        </p14:section>
        <p14:section name="The tool" id="{6145c438-0a82-85fd-8e85-6e628a7dd34a}">
          <p14:sldIdLst>
            <p14:sldId id="259"/>
            <p14:sldId id="260"/>
          </p14:sldIdLst>
        </p14:section>
        <p14:section name="Walkthroughs" id="{aaa0b7de-c93b-e049-aec5-684cc5c1f57a}">
          <p14:sldIdLst>
            <p14:sldId id="261"/>
            <p14:sldId id="262"/>
            <p14:sldId id="263"/>
          </p14:sldIdLst>
        </p14:section>
        <p14:section name="Close" id="{341679b4-24e5-3edd-4cf2-2919ac971eca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Who you are, what the tool is, how the next 15 minutes run: three short walkthroughs, then you try it yourselves.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problem in plain words. Why a tool and not a script: many methods, many recordings, and every result needs a human verdict and a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Do not explain all six. Name the two or three the walkthroughs touch (RQ2 seed search, RQ4 bands, RQ5 human vs machine).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Models workspace exists (RQ1) but is not on the path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These are what an examiner will probe; keep it to one sentence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Play recording 1; talk over it. Say which recording, channel and hours it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Play recording 2; talk over it. Say which recording, channel and hours it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Play recording 3; talk over it. Say which recording, channel and hours it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Honest status per question. Fill from docs/rq_roundA and rq_roundA_2.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over. Stay nearby; the demo bridge must not be restarted.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Underground Brains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 pipeline tool for finding and judging patterns in fungal bio-electric recordings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[Your name]  ·  [Supervisor]  ·  21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Weeks of signal, a few seconds of interest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721 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longest recording (M2_aug)</a:t>
            </a:r>
            <a:endParaRPr lang="en-US" sz="1200" dirty="0"/>
          </a:p>
        </p:txBody>
      </p:sp>
      <p:sp>
        <p:nvSpPr>
          <p:cNvPr id="6" name="stat 2"/>
          <p:cNvSpPr/>
          <p:nvPr/>
        </p:nvSpPr>
        <p:spPr>
          <a:xfrm>
            <a:off x="256032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channels per mushroom array</a:t>
            </a:r>
            <a:endParaRPr lang="en-US" sz="1200" dirty="0"/>
          </a:p>
        </p:txBody>
      </p:sp>
      <p:sp>
        <p:nvSpPr>
          <p:cNvPr id="9" name="stat 3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recordings registered</a:t>
            </a:r>
            <a:endParaRPr lang="en-US" sz="1200" dirty="0"/>
          </a:p>
        </p:txBody>
      </p:sp>
      <p:sp>
        <p:nvSpPr>
          <p:cNvPr id="12" name="stat 4"/>
          <p:cNvSpPr/>
          <p:nvPr/>
        </p:nvSpPr>
        <p:spPr>
          <a:xfrm>
            <a:off x="676656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research questions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Spikes, drops and recurring shapes are rare, slow and buried in drift. Reading them by eye does not scale, and an algorithm's answer means nothing without a human check and a null to compare against.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[to fill] check the numbers against the final database; swap in a figure of a raw trace if you have 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questions the tool was built to answer</a:t>
            </a:r>
            <a:endParaRPr lang="en-US" sz="2800" dirty="0"/>
          </a:p>
        </p:txBody>
      </p:sp>
      <p:sp>
        <p:nvSpPr>
          <p:cNvPr id="3" name="rq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 1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Cluster labels vs manual labels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Which trains a classifier that generalises better?</a:t>
            </a:r>
            <a:endParaRPr lang="en-US" sz="1200" dirty="0"/>
          </a:p>
        </p:txBody>
      </p:sp>
      <p:sp>
        <p:nvSpPr>
          <p:cNvPr id="8" name="rq 2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2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Exemplar-seeded search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Does a judged exemplar find matches a human also accepts?</a:t>
            </a:r>
            <a:endParaRPr lang="en-US" sz="1200" dirty="0"/>
          </a:p>
        </p:txBody>
      </p:sp>
      <p:sp>
        <p:nvSpPr>
          <p:cNvPr id="13" name="rq 3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 3"/>
          <p:cNvSpPr/>
          <p:nvPr/>
        </p:nvSpPr>
        <p:spPr>
          <a:xfrm>
            <a:off x="61722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Identity under scale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Is a motif still the same motif once scale is normalised?</a:t>
            </a:r>
            <a:endParaRPr lang="en-US" sz="1200" dirty="0"/>
          </a:p>
        </p:txBody>
      </p:sp>
      <p:sp>
        <p:nvSpPr>
          <p:cNvPr id="18" name="rq 4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 4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17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Bands and symbols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Does band decomposition + symbolic encoding find what raw methods miss?</a:t>
            </a:r>
            <a:endParaRPr lang="en-US" sz="1200" dirty="0"/>
          </a:p>
        </p:txBody>
      </p:sp>
      <p:sp>
        <p:nvSpPr>
          <p:cNvPr id="23" name="rq 5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 5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17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vs machine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Where do the two judgements diverge, and is it structured?</a:t>
            </a:r>
            <a:endParaRPr lang="en-US" sz="1200" dirty="0"/>
          </a:p>
        </p:txBody>
      </p:sp>
      <p:sp>
        <p:nvSpPr>
          <p:cNvPr id="28" name="rq 6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ot 6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17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Recurrence across channels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5661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Once artifacts and propagation are removed, does recurrence persist?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path through the tool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4630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Explore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look at a channel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7" name="step 2"/>
          <p:cNvSpPr/>
          <p:nvPr/>
        </p:nvSpPr>
        <p:spPr>
          <a:xfrm>
            <a:off x="2157984" y="14630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9424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Analyse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21031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chain blocks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step 3"/>
          <p:cNvSpPr/>
          <p:nvPr/>
        </p:nvSpPr>
        <p:spPr>
          <a:xfrm>
            <a:off x="3858768" y="14630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0208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Discovery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1031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run across channels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0096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step 4"/>
          <p:cNvSpPr/>
          <p:nvPr/>
        </p:nvSpPr>
        <p:spPr>
          <a:xfrm>
            <a:off x="5559552" y="14630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50992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50992" y="21031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 human judges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›</a:t>
            </a:r>
            <a:endParaRPr lang="en-US" sz="2400" dirty="0"/>
          </a:p>
        </p:txBody>
      </p:sp>
      <p:sp>
        <p:nvSpPr>
          <p:cNvPr id="19" name="step 5"/>
          <p:cNvSpPr/>
          <p:nvPr/>
        </p:nvSpPr>
        <p:spPr>
          <a:xfrm>
            <a:off x="7260336" y="1463040"/>
            <a:ext cx="1481328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776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Library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10312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families of shapes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step leaves a record: a run with its settings, a verdict with who gave it. What the Library holds came through Review.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[to fill] screenshot of the home page or the Analyse chain here, if room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choices behind every answer</a:t>
            </a:r>
            <a:endParaRPr lang="en-US" sz="2800" dirty="0"/>
          </a:p>
        </p:txBody>
      </p:sp>
      <p:sp>
        <p:nvSpPr>
          <p:cNvPr id="3" name="dot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Reproducible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727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analysis core has no user interface in it, so the same run works on a laptop or on the cluster, and is recorded with its settings.</a:t>
            </a:r>
            <a:endParaRPr lang="en-US" sz="1400" dirty="0"/>
          </a:p>
        </p:txBody>
      </p:sp>
      <p:sp>
        <p:nvSpPr>
          <p:cNvPr id="7" name="dot 2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Machine and human kept apart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700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Detections are the machine's; verdicts are a person's. They live in separate tables and nothing writes one into the other.</a:t>
            </a:r>
            <a:endParaRPr lang="en-US" sz="1400" dirty="0"/>
          </a:p>
        </p:txBody>
      </p:sp>
      <p:sp>
        <p:nvSpPr>
          <p:cNvPr id="11" name="dot 3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null for every measure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67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score is shown next to what chance would give, so "found 40 matches" can be read as more, or no more, than noise.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Walkthrough 1 · Explore, analyse, report</a:t>
            </a:r>
            <a:endParaRPr lang="en-US" sz="2800" dirty="0"/>
          </a:p>
        </p:txBody>
      </p:sp>
      <p:sp>
        <p:nvSpPr>
          <p:cNvPr id="3" name="video 1"/>
          <p:cNvSpPr/>
          <p:nvPr/>
        </p:nvSpPr>
        <p:spPr>
          <a:xfrm>
            <a:off x="457200" y="1143000"/>
            <a:ext cx="51206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lay 1"/>
          <p:cNvSpPr/>
          <p:nvPr/>
        </p:nvSpPr>
        <p:spPr>
          <a:xfrm rot="5400000">
            <a:off x="2743200" y="2377440"/>
            <a:ext cx="548640" cy="54864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[insert screen recording 1]</a:t>
            </a:r>
            <a:endParaRPr lang="en-US" sz="1200" dirty="0"/>
          </a:p>
        </p:txBody>
      </p:sp>
      <p:sp>
        <p:nvSpPr>
          <p:cNvPr id="6" name="dot 1"/>
          <p:cNvSpPr/>
          <p:nvPr/>
        </p:nvSpPr>
        <p:spPr>
          <a:xfrm>
            <a:off x="585216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1704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a span in Explore</a:t>
            </a:r>
            <a:endParaRPr lang="en-US" sz="1300" dirty="0"/>
          </a:p>
        </p:txBody>
      </p:sp>
      <p:sp>
        <p:nvSpPr>
          <p:cNvPr id="9" name="dot 2"/>
          <p:cNvSpPr/>
          <p:nvPr/>
        </p:nvSpPr>
        <p:spPr>
          <a:xfrm>
            <a:off x="585216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Analyse chain: frequency components, entropy / wavelet, inter-spike intervals</a:t>
            </a:r>
            <a:endParaRPr lang="en-US" sz="1300" dirty="0"/>
          </a:p>
        </p:txBody>
      </p:sp>
      <p:sp>
        <p:nvSpPr>
          <p:cNvPr id="12" name="dot 3"/>
          <p:cNvSpPr/>
          <p:nvPr/>
        </p:nvSpPr>
        <p:spPr>
          <a:xfrm>
            <a:off x="585216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249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Walkthrough 2 · Build a detector, use it</a:t>
            </a:r>
            <a:endParaRPr lang="en-US" sz="2800" dirty="0"/>
          </a:p>
        </p:txBody>
      </p:sp>
      <p:sp>
        <p:nvSpPr>
          <p:cNvPr id="3" name="video 2"/>
          <p:cNvSpPr/>
          <p:nvPr/>
        </p:nvSpPr>
        <p:spPr>
          <a:xfrm>
            <a:off x="457200" y="1143000"/>
            <a:ext cx="51206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lay 2"/>
          <p:cNvSpPr/>
          <p:nvPr/>
        </p:nvSpPr>
        <p:spPr>
          <a:xfrm rot="5400000">
            <a:off x="2743200" y="2377440"/>
            <a:ext cx="548640" cy="54864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[insert screen recording 2]</a:t>
            </a:r>
            <a:endParaRPr lang="en-US" sz="1200" dirty="0"/>
          </a:p>
        </p:txBody>
      </p:sp>
      <p:sp>
        <p:nvSpPr>
          <p:cNvPr id="6" name="dot 1"/>
          <p:cNvSpPr/>
          <p:nvPr/>
        </p:nvSpPr>
        <p:spPr>
          <a:xfrm>
            <a:off x="585216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1704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detection chain in Analyse</a:t>
            </a:r>
            <a:endParaRPr lang="en-US" sz="1300" dirty="0"/>
          </a:p>
        </p:txBody>
      </p:sp>
      <p:sp>
        <p:nvSpPr>
          <p:cNvPr id="9" name="dot 2"/>
          <p:cNvSpPr/>
          <p:nvPr/>
        </p:nvSpPr>
        <p:spPr>
          <a:xfrm>
            <a:off x="585216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 it as a template</a:t>
            </a:r>
            <a:endParaRPr lang="en-US" sz="1300" dirty="0"/>
          </a:p>
        </p:txBody>
      </p:sp>
      <p:sp>
        <p:nvSpPr>
          <p:cNvPr id="12" name="dot 3"/>
          <p:cNvSpPr/>
          <p:nvPr/>
        </p:nvSpPr>
        <p:spPr>
          <a:xfrm>
            <a:off x="585216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249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it to a channel</a:t>
            </a:r>
            <a:endParaRPr lang="en-US" sz="1300" dirty="0"/>
          </a:p>
        </p:txBody>
      </p:sp>
      <p:sp>
        <p:nvSpPr>
          <p:cNvPr id="15" name="dot 4"/>
          <p:cNvSpPr/>
          <p:nvPr/>
        </p:nvSpPr>
        <p:spPr>
          <a:xfrm>
            <a:off x="585216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5021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Judge the results in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Walkthrough 3 · From a family to new finds</a:t>
            </a:r>
            <a:endParaRPr lang="en-US" sz="2800" dirty="0"/>
          </a:p>
        </p:txBody>
      </p:sp>
      <p:sp>
        <p:nvSpPr>
          <p:cNvPr id="3" name="video 3"/>
          <p:cNvSpPr/>
          <p:nvPr/>
        </p:nvSpPr>
        <p:spPr>
          <a:xfrm>
            <a:off x="457200" y="1143000"/>
            <a:ext cx="51206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lay 3"/>
          <p:cNvSpPr/>
          <p:nvPr/>
        </p:nvSpPr>
        <p:spPr>
          <a:xfrm rot="5400000">
            <a:off x="2743200" y="2377440"/>
            <a:ext cx="548640" cy="548640"/>
          </a:xfrm>
          <a:prstGeom prst="triangl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[insert screen recording 3]</a:t>
            </a:r>
            <a:endParaRPr lang="en-US" sz="1200" dirty="0"/>
          </a:p>
        </p:txBody>
      </p:sp>
      <p:sp>
        <p:nvSpPr>
          <p:cNvPr id="6" name="dot 1"/>
          <p:cNvSpPr/>
          <p:nvPr/>
        </p:nvSpPr>
        <p:spPr>
          <a:xfrm>
            <a:off x="585216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1704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a Library family</a:t>
            </a:r>
            <a:endParaRPr lang="en-US" sz="1300" dirty="0"/>
          </a:p>
        </p:txBody>
      </p:sp>
      <p:sp>
        <p:nvSpPr>
          <p:cNvPr id="9" name="dot 2"/>
          <p:cNvSpPr/>
          <p:nvPr/>
        </p:nvSpPr>
        <p:spPr>
          <a:xfrm>
            <a:off x="585216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Seed search in Discovery</a:t>
            </a:r>
            <a:endParaRPr lang="en-US" sz="1300" dirty="0"/>
          </a:p>
        </p:txBody>
      </p:sp>
      <p:sp>
        <p:nvSpPr>
          <p:cNvPr id="12" name="dot 3"/>
          <p:cNvSpPr/>
          <p:nvPr/>
        </p:nvSpPr>
        <p:spPr>
          <a:xfrm>
            <a:off x="585216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249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Judge the matches in Review (combined with the R2 queue)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each question stands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First 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RQ1 Cluster labels vs manual labels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RQ2 Exemplar-seeded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RQ3 Identity under scale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RQ4 Bands and symbols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RQ5 Human vs machine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RQ6 Recurrence across channels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[answerable / answered]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[one line]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Now try it yourselves</a:t>
            </a:r>
            <a:endParaRPr lang="en-US" sz="2800" dirty="0"/>
          </a:p>
        </p:txBody>
      </p:sp>
      <p:sp>
        <p:nvSpPr>
          <p:cNvPr id="3" name="url card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http://127.0.0.1:8800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copy of the tool on a 4-hour, five-channel slice of M2_aug. Nothing you do touches the real data, and every run finishes in seconds.</a:t>
            </a:r>
            <a:endParaRPr lang="en-US" sz="1300" dirty="0"/>
          </a:p>
        </p:txBody>
      </p:sp>
      <p:sp>
        <p:nvSpPr>
          <p:cNvPr id="7" name="dot 1"/>
          <p:cNvSpPr/>
          <p:nvPr/>
        </p:nvSpPr>
        <p:spPr>
          <a:xfrm>
            <a:off x="475488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a channel in Explore</a:t>
            </a:r>
            <a:endParaRPr lang="en-US" sz="1500" dirty="0"/>
          </a:p>
        </p:txBody>
      </p:sp>
      <p:sp>
        <p:nvSpPr>
          <p:cNvPr id="10" name="dot 2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a chain in Analyse</a:t>
            </a:r>
            <a:endParaRPr lang="en-US" sz="1500" dirty="0"/>
          </a:p>
        </p:txBody>
      </p:sp>
      <p:sp>
        <p:nvSpPr>
          <p:cNvPr id="13" name="dot 3"/>
          <p:cNvSpPr/>
          <p:nvPr/>
        </p:nvSpPr>
        <p:spPr>
          <a:xfrm>
            <a:off x="475488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 a seed search</a:t>
            </a:r>
            <a:endParaRPr lang="en-US" sz="1500" dirty="0"/>
          </a:p>
        </p:txBody>
      </p:sp>
      <p:sp>
        <p:nvSpPr>
          <p:cNvPr id="16" name="dot 4"/>
          <p:cNvSpPr/>
          <p:nvPr/>
        </p:nvSpPr>
        <p:spPr>
          <a:xfrm>
            <a:off x="475488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Judge a match in Review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[to fill] final URL / port once the demo bridge is 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celium">
  <a:themeElements>
    <a:clrScheme name="Mycelium">
      <a:dk1>
        <a:srgbClr val="1F1A17"/>
      </a:dk1>
      <a:lt1>
        <a:srgbClr val="FFFFFF"/>
      </a:lt1>
      <a:dk2>
        <a:srgbClr val="2E2622"/>
      </a:dk2>
      <a:lt2>
        <a:srgbClr val="EEF2EE"/>
      </a:lt2>
      <a:accent1>
        <a:srgbClr val="3E8E5E"/>
      </a:accent1>
      <a:accent2>
        <a:srgbClr val="D9893B"/>
      </a:accent2>
      <a:accent3>
        <a:srgbClr val="7BD389"/>
      </a:accent3>
      <a:accent4>
        <a:srgbClr val="5B6E8C"/>
      </a:accent4>
      <a:accent5>
        <a:srgbClr val="A65E4E"/>
      </a:accent5>
      <a:accent6>
        <a:srgbClr val="8C8C84"/>
      </a:accent6>
      <a:hlink>
        <a:srgbClr val="3E8E5E"/>
      </a:hlink>
      <a:folHlink>
        <a:srgbClr val="5B6E8C"/>
      </a:folHlink>
    </a:clrScheme>
    <a:fontScheme name="Myceli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Underground Brains - thesis talk (skeleton)</dc:title>
  <dc:subject>PptxGenJS Presentation</dc:subject>
  <dc:creator>PptxGenJS</dc:creator>
  <cp:lastModifiedBy>PptxGenJS</cp:lastModifiedBy>
  <cp:revision>1</cp:revision>
  <dcterms:created xsi:type="dcterms:W3CDTF">2026-10-20T03:17:58Z</dcterms:created>
  <dcterms:modified xsi:type="dcterms:W3CDTF">2026-10-20T03:17:58Z</dcterms:modified>
</cp:coreProperties>
</file>