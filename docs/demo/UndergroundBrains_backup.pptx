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d5e24a-f136-f98b-5421-2e96925754c7}">
          <p14:sldIdLst>
            <p14:sldId id="256"/>
          </p14:sldIdLst>
        </p14:section>
        <p14:section name="Walkthrough 1" id="{ab3f4331-9fa0-ac21-f8b8-3310e0a5235c}">
          <p14:sldIdLst>
            <p14:sldId id="257"/>
            <p14:sldId id="258"/>
            <p14:sldId id="259"/>
            <p14:sldId id="260"/>
            <p14:sldId id="261"/>
          </p14:sldIdLst>
        </p14:section>
        <p14:section name="Walkthrough 2" id="{6a3bf3f9-f284-e3a5-f8ec-2c33ff35b26b}">
          <p14:sldIdLst>
            <p14:sldId id="262"/>
            <p14:sldId id="263"/>
            <p14:sldId id="264"/>
            <p14:sldId id="265"/>
            <p14:sldId id="266"/>
            <p14:sldId id="267"/>
          </p14:sldIdLst>
        </p14:section>
        <p14:section name="Walkthrough 3" id="{a2d54906-322f-a460-a8c8-6171bb5ff6db}">
          <p14:sldIdLst>
            <p14:sldId id="268"/>
            <p14:sldId id="269"/>
            <p14:sldId id="270"/>
            <p14:sldId id="271"/>
            <p14:sldId id="272"/>
            <p14:sldId id="273"/>
            <p14:sldId id="274"/>
          </p14:sldIdLst>
        </p14:section>
        <p14:section name="Results" id="{f0a7fbc7-df22-3d75-f361-a8df5c561bc2}">
          <p14:sldIdLst>
            <p14:sldId id="275"/>
            <p14:sldId id="276"/>
            <p14:sldId id="277"/>
            <p14:sldId id="278"/>
            <p14:sldId id="279"/>
            <p14:sldId id="280"/>
            <p14:sldId id="281"/>
          </p14:sldIdLst>
        </p14:section>
        <p14:section name="Close" id="{99456d3e-b2ae-523c-fafd-35c637c16349}">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A17"/>
                </a:solidFill>
                <a:latin typeface="+mn-lt"/>
              </a:defRPr>
            </a:pPr>
            <a:r>
              <a:rPr sz="1200" b="0" i="0" u="none" strike="noStrike">
                <a:solidFill>
                  <a:srgbClr val="1F1A17"/>
                </a:solidFill>
                <a:latin typeface="+mn-lt"/>
              </a:rPr>
              <a:t>share judged interesting, by how many detector families agree</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3E8E5E"/>
            </a:solidFill>
            <a:effectLst/>
          </c:spPr>
          <c:invertIfNegative val="0"/>
          <c:dLbls>
            <c:numFmt formatCode="0&quot;%&quot;" sourceLinked="0"/>
            <c:txPr>
              <a:bodyPr/>
              <a:lstStyle/>
              <a:p>
                <a:pPr>
                  <a:defRPr b="0" i="0" strike="noStrike" sz="1100" u="none">
                    <a:solidFill>
                      <a:srgbClr val="1F1A17"/>
                    </a:solidFill>
                    <a:latin typeface="+mn-lt"/>
                  </a:defRPr>
                </a:pPr>
              </a:p>
            </c:txPr>
            <c:showLegendKey val="0"/>
            <c:showVal val="1"/>
            <c:showCatName val="0"/>
            <c:showSerName val="0"/>
            <c:showPercent val="0"/>
            <c:showBubbleSize val="0"/>
            <c:showLeaderLines val="0"/>
          </c:dLbls>
          <c:cat>
            <c:multiLvlStrRef>
              <c:f>Sheet1!$A$2:$A$6</c:f>
              <c:multiLvlStrCache>
                <c:ptCount val="5"/>
                <c:lvl>
                  <c:pt idx="0">
                    <c:v>1-2 agree</c:v>
                  </c:pt>
                  <c:pt idx="1">
                    <c:v>3-4 agree</c:v>
                  </c:pt>
                  <c:pt idx="2">
                    <c:v>5-6 agree</c:v>
                  </c:pt>
                  <c:pt idx="3">
                    <c:v>7-8 agree</c:v>
                  </c:pt>
                  <c:pt idx="4">
                    <c:v>9+ agree</c:v>
                  </c:pt>
                </c:lvl>
              </c:multiLvlStrCache>
            </c:multiLvlStrRef>
          </c:cat>
          <c:val>
            <c:numRef>
              <c:f>Sheet1!$B$2:$B$6</c:f>
              <c:numCache>
                <c:formatCode>General</c:formatCode>
                <c:ptCount val="5"/>
                <c:pt idx="0">
                  <c:v>4</c:v>
                </c:pt>
                <c:pt idx="1">
                  <c:v>6</c:v>
                </c:pt>
                <c:pt idx="2">
                  <c:v>22</c:v>
                </c:pt>
                <c:pt idx="3">
                  <c:v>54</c:v>
                </c:pt>
                <c:pt idx="4">
                  <c:v>59</c:v>
                </c:pt>
              </c:numCache>
            </c:numRef>
          </c:val>
        </c:ser>
        <c:dLbls>
          <c:numFmt formatCode="0&quot;%&quot;" sourceLinked="0"/>
          <c:txPr>
            <a:bodyPr/>
            <a:lstStyle/>
            <a:p>
              <a:pPr>
                <a:defRPr b="0" i="0" strike="noStrike" sz="1100" u="none">
                  <a:solidFill>
                    <a:srgbClr val="1F1A1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550"/>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3E6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555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A17"/>
                </a:solidFill>
                <a:latin typeface="+mn-lt"/>
              </a:defRPr>
            </a:pPr>
            <a:r>
              <a:rPr sz="1200" b="0" i="0" u="none" strike="noStrike">
                <a:solidFill>
                  <a:srgbClr val="1F1A17"/>
                </a:solidFill>
                <a:latin typeface="+mn-lt"/>
              </a:rPr>
              <a:t>AUC on recordings the model never saw (1,689 candidates)</a:t>
            </a:r>
          </a:p>
        </c:rich>
      </c:tx>
      <c:layout/>
      <c:overlay val="0"/>
    </c:title>
    <c:autoTitleDeleted val="0"/>
    <c:plotArea>
      <c:layout/>
      <c:barChart>
        <c:barDir val="bar"/>
        <c:grouping val="clustered"/>
        <c:varyColors val="0"/>
        <c:ser>
          <c:idx val="0"/>
          <c:order val="0"/>
          <c:tx>
            <c:strRef>
              <c:f>Sheet1!$B$1</c:f>
              <c:strCache>
                <c:ptCount val="1"/>
                <c:pt idx="0">
                  <c:v>AUC</c:v>
                </c:pt>
              </c:strCache>
            </c:strRef>
          </c:tx>
          <c:spPr>
            <a:solidFill>
              <a:srgbClr val="3E8E5E"/>
            </a:solidFill>
            <a:effectLst/>
          </c:spPr>
          <c:invertIfNegative val="0"/>
          <c:dLbls>
            <c:numFmt formatCode="0.00" sourceLinked="0"/>
            <c:txPr>
              <a:bodyPr/>
              <a:lstStyle/>
              <a:p>
                <a:pPr>
                  <a:defRPr b="0" i="0" strike="noStrike" sz="1200" u="none">
                    <a:solidFill>
                      <a:srgbClr val="1F1A17"/>
                    </a:solidFill>
                    <a:latin typeface="+mn-lt"/>
                  </a:defRPr>
                </a:pPr>
              </a:p>
            </c:txPr>
            <c:showLegendKey val="0"/>
            <c:showVal val="1"/>
            <c:showCatName val="0"/>
            <c:showSerName val="0"/>
            <c:showPercent val="0"/>
            <c:showBubbleSize val="0"/>
            <c:showLeaderLines val="0"/>
          </c:dLbls>
          <c:dPt>
            <c:idx val="0"/>
            <c:invertIfNegative val="0"/>
            <c:bubble3D val="0"/>
            <c:spPr>
              <a:solidFill>
                <a:srgbClr val="3E8E5E"/>
              </a:solidFill>
              <a:effectLst/>
            </c:spPr>
          </c:dPt>
          <c:dPt>
            <c:idx val="1"/>
            <c:invertIfNegative val="0"/>
            <c:bubble3D val="0"/>
            <c:spPr>
              <a:solidFill>
                <a:srgbClr val="8C8C84"/>
              </a:solidFill>
              <a:effectLst/>
            </c:spPr>
          </c:dPt>
          <c:dPt>
            <c:idx val="2"/>
            <c:invertIfNegative val="0"/>
            <c:bubble3D val="0"/>
            <c:spPr>
              <a:solidFill>
                <a:srgbClr val="D9893B"/>
              </a:solidFill>
              <a:effectLst/>
            </c:spPr>
          </c:dPt>
          <c:cat>
            <c:multiLvlStrRef>
              <c:f>Sheet1!$A$2:$A$4</c:f>
              <c:multiLvlStrCache>
                <c:ptCount val="3"/>
                <c:lvl>
                  <c:pt idx="0">
                    <c:v>MiniRocket on the shape</c:v>
                  </c:pt>
                  <c:pt idx="1">
                    <c:v>Size and noise alone</c:v>
                  </c:pt>
                  <c:pt idx="2">
                    <c:v>Detector agreement</c:v>
                  </c:pt>
                </c:lvl>
              </c:multiLvlStrCache>
            </c:multiLvlStrRef>
          </c:cat>
          <c:val>
            <c:numRef>
              <c:f>Sheet1!$B$2:$B$4</c:f>
              <c:numCache>
                <c:formatCode>General</c:formatCode>
                <c:ptCount val="3"/>
                <c:pt idx="0">
                  <c:v>0.97</c:v>
                </c:pt>
                <c:pt idx="1">
                  <c:v>0.9</c:v>
                </c:pt>
                <c:pt idx="2">
                  <c:v>0.86</c:v>
                </c:pt>
              </c:numCache>
            </c:numRef>
          </c:val>
        </c:ser>
        <c:dLbls>
          <c:numFmt formatCode="0.00" sourceLinked="0"/>
          <c:txPr>
            <a:bodyPr/>
            <a:lstStyle/>
            <a:p>
              <a:pPr>
                <a:defRPr b="0" i="0" strike="noStrike" sz="1200" u="none">
                  <a:solidFill>
                    <a:srgbClr val="1F1A1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A5550"/>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6350" cap="flat">
              <a:solidFill>
                <a:srgbClr val="E3E6E3"/>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A555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the live site fails. Every slide is the same step as the live click script in docs/DEMO_DAY.md.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DATA/derived/candidate_events/M2_aug_concat_fs1_bf098c00/sample_seed0_l100_f50/estimate.json. CIs per stratum: 1-2: 1-8 % (n=95); 3-4: 2-10 % (n=107); 5-6: 15-30 % (n=126); 7-8: 46-63 % (n=178); 9+: 50-67 % (n=248)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docs/rq_roundA_2/findings/rq1b-minirocket-2026-10-20.md (model DATA/derived/models/rq1b_minirocket/20261020-2343). On the 1,689 stratified queue candidates (queues 25 and 28): MiniRocket balanced accuracy 0.92, AUC 0.97; size and noise alone 0.85 / 0.90; detector agreement AUC 0.86. Classes: interesting (with seed) vs not interesting; M4_aug (the exam recording) was left out. Supersedes the queue-25-only preliminary (0.79 vs 0.83).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651760"/>
            <a:ext cx="8046720" cy="109728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3" name="Text 0"/>
          <p:cNvSpPr/>
          <p:nvPr>
            <p:ph idx="101" type="body" hasCustomPrompt="1"/>
          </p:nvPr>
        </p:nvSpPr>
        <p:spPr>
          <a:xfrm>
            <a:off x="320040" y="4800600"/>
            <a:ext cx="8138160" cy="274320"/>
          </a:xfrm>
          <a:prstGeom prst="rect">
            <a:avLst/>
          </a:prstGeom>
          <a:noFill/>
          <a:ln/>
        </p:spPr>
        <p:txBody>
          <a:bodyPr wrap="square" rtlCol="0"/>
          <a:lstStyle>
            <a:lvl1pPr indent="0" marL="0">
              <a:buNone/>
              <a:defRPr lang="en-US" sz="1100" dirty="0">
                <a:solidFill>
                  <a:schemeClr val="accent6"/>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algn="l" indent="0" marL="0">
              <a:buNone/>
            </a:pPr>
            <a:r>
              <a:rPr lang="en-US" sz="4000" b="1" dirty="0">
                <a:solidFill>
                  <a:schemeClr val="bg1"/>
                </a:solidFill>
              </a:rPr>
              <a:t>Underground Brains</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accent3"/>
                </a:solidFill>
              </a:rPr>
              <a:t>Backup: the live walk-through as screenshots</a:t>
            </a:r>
            <a:endParaRPr lang="en-US" sz="1800" dirty="0"/>
          </a:p>
          <a:p>
            <a:pPr indent="0" marL="0">
              <a:buNone/>
            </a:pPr>
            <a:r>
              <a:rPr lang="en-US" sz="1400" dirty="0">
                <a:solidFill>
                  <a:srgbClr val="FFFFFF"/>
                </a:solidFill>
              </a:rPr>
              <a:t>M2_aug, channel CH4_A2, hours 377-381 · taken 20 October 2026 from the real database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914400"/>
          </a:xfrm>
          <a:prstGeom prst="rect">
            <a:avLst/>
          </a:prstGeom>
          <a:noFill/>
          <a:ln/>
        </p:spPr>
        <p:txBody>
          <a:bodyPr wrap="square" rtlCol="0" anchor="b"/>
          <a:lstStyle/>
          <a:p>
            <a:pPr algn="l" indent="0" marL="0">
              <a:buNone/>
            </a:pPr>
            <a:r>
              <a:rPr lang="en-US" sz="3600" b="1" dirty="0">
                <a:solidFill>
                  <a:schemeClr val="bg1"/>
                </a:solidFill>
              </a:rPr>
              <a:t>Walkthrough 1</a:t>
            </a:r>
            <a:endParaRPr lang="en-US" sz="3600" dirty="0"/>
          </a:p>
        </p:txBody>
      </p:sp>
      <p:sp>
        <p:nvSpPr>
          <p:cNvPr id="3" name="Text 0"/>
          <p:cNvSpPr/>
          <p:nvPr>
            <p:ph idx="101" type="body" hasCustomPrompt="1"/>
          </p:nvPr>
        </p:nvSpPr>
        <p:spPr>
          <a:xfrm>
            <a:off x="548640" y="2651760"/>
            <a:ext cx="8046720" cy="1097280"/>
          </a:xfrm>
          <a:prstGeom prst="rect">
            <a:avLst/>
          </a:prstGeom>
          <a:noFill/>
          <a:ln/>
        </p:spPr>
        <p:txBody>
          <a:bodyPr wrap="square" rtlCol="0" anchor="t"/>
          <a:lstStyle/>
          <a:p>
            <a:pPr indent="0" marL="0">
              <a:buNone/>
            </a:pPr>
            <a:r>
              <a:rPr lang="en-US" sz="1800" dirty="0">
                <a:solidFill>
                  <a:schemeClr val="bg1"/>
                </a:solidFill>
              </a:rPr>
              <a:t>Open a span in Explore, analyse it, see the spikes and their intervals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Explore · Signal: the four-hour span on CH4_A2</a:t>
            </a:r>
            <a:endParaRPr lang="en-US" sz="2000" dirty="0"/>
          </a:p>
        </p:txBody>
      </p:sp>
      <p:pic>
        <p:nvPicPr>
          <p:cNvPr id="3" name="w1-2-signal-span" descr="Explore · Signal: the four-hour span on CH4_A2">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M2_aug_concat_fs1 · CH4_A2 · 377-381 h · saved as the span "demo · W1/W2 span"</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Open in Analyse: the span becomes the chain source</a:t>
            </a:r>
            <a:endParaRPr lang="en-US" sz="2000" dirty="0"/>
          </a:p>
        </p:txBody>
      </p:sp>
      <p:pic>
        <p:nvPicPr>
          <p:cNvPr id="3" name="w1-3-analyse-source" descr="Open in Analyse: the span becomes the chain source">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one click; the span travels with its exact samples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Spike route: invert, detrend, encode, detect, shape, intervals</a:t>
            </a:r>
            <a:endParaRPr lang="en-US" sz="2000" dirty="0"/>
          </a:p>
        </p:txBody>
      </p:sp>
      <p:pic>
        <p:nvPicPr>
          <p:cNvPr id="3" name="w1-4-spike-event-features" descr="Spike route: invert, detrend, encode, detect, shape, intervals">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template spike_event_features · 9 spikes · inter-spike intervals at the end of the chain · ~1-2 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Wavelet route: CWT ridges, event shape, intervals</a:t>
            </a:r>
            <a:endParaRPr lang="en-US" sz="2000" dirty="0"/>
          </a:p>
        </p:txBody>
      </p:sp>
      <p:pic>
        <p:nvPicPr>
          <p:cNvPr id="3" name="w1-5-cwt-events" descr="Wavelet route: CWT ridges, event shape, intervals">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template cwt_events · 11 events · ~1 s from the step cache</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914400"/>
          </a:xfrm>
          <a:prstGeom prst="rect">
            <a:avLst/>
          </a:prstGeom>
          <a:noFill/>
          <a:ln/>
        </p:spPr>
        <p:txBody>
          <a:bodyPr wrap="square" rtlCol="0" anchor="b"/>
          <a:lstStyle/>
          <a:p>
            <a:pPr algn="l" indent="0" marL="0">
              <a:buNone/>
            </a:pPr>
            <a:r>
              <a:rPr lang="en-US" sz="3600" b="1" dirty="0">
                <a:solidFill>
                  <a:schemeClr val="bg1"/>
                </a:solidFill>
              </a:rPr>
              <a:t>Walkthrough 2</a:t>
            </a:r>
            <a:endParaRPr lang="en-US" sz="3600" dirty="0"/>
          </a:p>
        </p:txBody>
      </p:sp>
      <p:sp>
        <p:nvSpPr>
          <p:cNvPr id="3" name="Text 0"/>
          <p:cNvSpPr/>
          <p:nvPr>
            <p:ph idx="101" type="body" hasCustomPrompt="1"/>
          </p:nvPr>
        </p:nvSpPr>
        <p:spPr>
          <a:xfrm>
            <a:off x="548640" y="2651760"/>
            <a:ext cx="8046720" cy="1097280"/>
          </a:xfrm>
          <a:prstGeom prst="rect">
            <a:avLst/>
          </a:prstGeom>
          <a:noFill/>
          <a:ln/>
        </p:spPr>
        <p:txBody>
          <a:bodyPr wrap="square" rtlCol="0" anchor="t"/>
          <a:lstStyle/>
          <a:p>
            <a:pPr indent="0" marL="0">
              <a:buNone/>
            </a:pPr>
            <a:r>
              <a:rPr lang="en-US" sz="1800" dirty="0">
                <a:solidFill>
                  <a:schemeClr val="bg1"/>
                </a:solidFill>
              </a:rPr>
              <a:t>Build a detector, save it, apply it with its null, judge the result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Build: detrend, symbolic encoding, drop detection</a:t>
            </a:r>
            <a:endParaRPr lang="en-US" sz="2000" dirty="0"/>
          </a:p>
        </p:txBody>
      </p:sp>
      <p:pic>
        <p:nvPicPr>
          <p:cNvPr id="3" name="w2-1-drop-detector-chain" descr="Build: detrend, symbolic encoding, drop detection">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six drops on the span · saved as the template "demo · drop detector"</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Library · Templates: the saved chain sits beside the built-ins</a:t>
            </a:r>
            <a:endParaRPr lang="en-US" sz="2000" dirty="0"/>
          </a:p>
        </p:txBody>
      </p:sp>
      <p:pic>
        <p:nvPicPr>
          <p:cNvPr id="3" name="w2-2-template-saved" descr="Library · Templates: the saved chain sits beside the built-ins">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versions and scores per template</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Discovery · Runs: the template applied to five channels, 721 h</a:t>
            </a:r>
            <a:endParaRPr lang="en-US" sz="2000" dirty="0"/>
          </a:p>
        </p:txBody>
      </p:sp>
      <p:pic>
        <p:nvPicPr>
          <p:cNvPr id="3" name="w2-3-discovery-runs" descr="Discovery · Runs: the template applied to five channels, 721 h">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365 detections · 20 phase-randomised null draws per channel · ~2.5 min, pre-run</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Report: where it fired, against the human reference and its null</a:t>
            </a:r>
            <a:endParaRPr lang="en-US" sz="2000" dirty="0"/>
          </a:p>
        </p:txBody>
      </p:sp>
      <p:pic>
        <p:nvPicPr>
          <p:cNvPr id="3" name="w2-4-report" descr="Report: where it fired, against the human reference and its null">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drawn by the server; a saved snapshot opens instantly from Reports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Review: each detection judged by a person</a:t>
            </a:r>
            <a:endParaRPr lang="en-US" sz="2000" dirty="0"/>
          </a:p>
        </p:txBody>
      </p:sp>
      <p:pic>
        <p:nvPicPr>
          <p:cNvPr id="3" name="w2-5-review" descr="Review: each detection judged by a person">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queue "Discovery · demo · drop detector" · 325 events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914400"/>
          </a:xfrm>
          <a:prstGeom prst="rect">
            <a:avLst/>
          </a:prstGeom>
          <a:noFill/>
          <a:ln/>
        </p:spPr>
        <p:txBody>
          <a:bodyPr wrap="square" rtlCol="0" anchor="b"/>
          <a:lstStyle/>
          <a:p>
            <a:pPr algn="l" indent="0" marL="0">
              <a:buNone/>
            </a:pPr>
            <a:r>
              <a:rPr lang="en-US" sz="3600" b="1" dirty="0">
                <a:solidFill>
                  <a:schemeClr val="bg1"/>
                </a:solidFill>
              </a:rPr>
              <a:t>Walkthrough 3</a:t>
            </a:r>
            <a:endParaRPr lang="en-US" sz="3600" dirty="0"/>
          </a:p>
        </p:txBody>
      </p:sp>
      <p:sp>
        <p:nvSpPr>
          <p:cNvPr id="3" name="Text 0"/>
          <p:cNvSpPr/>
          <p:nvPr>
            <p:ph idx="101" type="body" hasCustomPrompt="1"/>
          </p:nvPr>
        </p:nvSpPr>
        <p:spPr>
          <a:xfrm>
            <a:off x="548640" y="2651760"/>
            <a:ext cx="8046720" cy="1097280"/>
          </a:xfrm>
          <a:prstGeom prst="rect">
            <a:avLst/>
          </a:prstGeom>
          <a:noFill/>
          <a:ln/>
        </p:spPr>
        <p:txBody>
          <a:bodyPr wrap="square" rtlCol="0" anchor="t"/>
          <a:lstStyle/>
          <a:p>
            <a:pPr indent="0" marL="0">
              <a:buNone/>
            </a:pPr>
            <a:r>
              <a:rPr lang="en-US" sz="1800" dirty="0">
                <a:solidFill>
                  <a:schemeClr val="bg1"/>
                </a:solidFill>
              </a:rPr>
              <a:t>From a Library family to new instances of its shape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Library · Atlas: families grouped by shape</a:t>
            </a:r>
            <a:endParaRPr lang="en-US" sz="2000" dirty="0"/>
          </a:p>
        </p:txBody>
      </p:sp>
      <p:pic>
        <p:nvPicPr>
          <p:cNvPr id="3" name="w3-1-atlas" descr="Library · Atlas: families grouped by shape">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grouping g-05 "shape families"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Family F-30: 79 members, every one judged</a:t>
            </a:r>
            <a:endParaRPr lang="en-US" sz="2000" dirty="0"/>
          </a:p>
        </p:txBody>
      </p:sp>
      <p:pic>
        <p:nvPicPr>
          <p:cNvPr id="3" name="w3-2-family-F-30" descr="Family F-30: 79 members, every one judged">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medoid m-191 on CH2_A1 at 442 h · Seed search in Discovery</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Seed search: the medoid matched across five channels, 721 h</a:t>
            </a:r>
            <a:endParaRPr lang="en-US" sz="2000" dirty="0"/>
          </a:p>
        </p:txBody>
      </p:sp>
      <p:pic>
        <p:nvPicPr>
          <p:cNvPr id="3" name="w3-3-seed-search" descr="Seed search: the medoid matched across five channels, 721 h">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1000 matches · the null recommends the cut · 155 kept</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Kept as a run; the same search returns the same run</a:t>
            </a:r>
            <a:endParaRPr lang="en-US" sz="2000" dirty="0"/>
          </a:p>
        </p:txBody>
      </p:sp>
      <p:pic>
        <p:nvPicPr>
          <p:cNvPr id="3" name="w3-4-seed-kept" descr="Kept as a run; the same search returns the same run">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seed 056a5d · 155 detections · sent unjudged to Review</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Review: the matches, one at a time</a:t>
            </a:r>
            <a:endParaRPr lang="en-US" sz="2000" dirty="0"/>
          </a:p>
        </p:txBody>
      </p:sp>
      <p:pic>
        <p:nvPicPr>
          <p:cNvPr id="3" name="w3-5-review" descr="Review: the matches, one at a time">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queue "demo · talk · picked from Discovery" · 149 items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Report for the seed run</a:t>
            </a:r>
            <a:endParaRPr lang="en-US" sz="2000" dirty="0"/>
          </a:p>
        </p:txBody>
      </p:sp>
      <p:pic>
        <p:nvPicPr>
          <p:cNvPr id="3" name="w3-6-report" descr="Report for the seed run">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seed 056a5d</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914400"/>
          </a:xfrm>
          <a:prstGeom prst="rect">
            <a:avLst/>
          </a:prstGeom>
          <a:noFill/>
          <a:ln/>
        </p:spPr>
        <p:txBody>
          <a:bodyPr wrap="square" rtlCol="0" anchor="b"/>
          <a:lstStyle/>
          <a:p>
            <a:pPr algn="l" indent="0" marL="0">
              <a:buNone/>
            </a:pPr>
            <a:r>
              <a:rPr lang="en-US" sz="3600" b="1" dirty="0">
                <a:solidFill>
                  <a:schemeClr val="bg1"/>
                </a:solidFill>
              </a:rPr>
              <a:t>Results</a:t>
            </a:r>
            <a:endParaRPr lang="en-US" sz="3600" dirty="0"/>
          </a:p>
        </p:txBody>
      </p:sp>
      <p:sp>
        <p:nvSpPr>
          <p:cNvPr id="3" name="Text 0"/>
          <p:cNvSpPr/>
          <p:nvPr>
            <p:ph idx="101" type="body" hasCustomPrompt="1"/>
          </p:nvPr>
        </p:nvSpPr>
        <p:spPr>
          <a:xfrm>
            <a:off x="548640" y="2651760"/>
            <a:ext cx="8046720" cy="1097280"/>
          </a:xfrm>
          <a:prstGeom prst="rect">
            <a:avLst/>
          </a:prstGeom>
          <a:noFill/>
          <a:ln/>
        </p:spPr>
        <p:txBody>
          <a:bodyPr wrap="square" rtlCol="0" anchor="t"/>
          <a:lstStyle/>
          <a:p>
            <a:pPr indent="0" marL="0">
              <a:buNone/>
            </a:pPr>
            <a:r>
              <a:rPr lang="en-US" sz="1800" dirty="0">
                <a:solidFill>
                  <a:schemeClr val="bg1"/>
                </a:solidFill>
              </a:rPr>
              <a:t>R1 where each algorithm fires · R2 seeded search · R3 how many candidates are real · R4 a classifier of your verdicts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R1 · Every dataset, every algorithm, every channel</a:t>
            </a:r>
            <a:endParaRPr lang="en-US" sz="2000" dirty="0"/>
          </a:p>
        </p:txBody>
      </p:sp>
      <p:pic>
        <p:nvPicPr>
          <p:cNvPr id="3" name="r1-1-map-overview" descr="R1 · Every dataset, every algorithm, every channel">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Discovery › Map, all datasets with a finished run</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R1 · M2_aug in detail</a:t>
            </a:r>
            <a:endParaRPr lang="en-US" sz="2000" dirty="0"/>
          </a:p>
        </p:txBody>
      </p:sp>
      <p:pic>
        <p:nvPicPr>
          <p:cNvPr id="3" name="r1-2-map-M2_aug_concat_fs1" descr="R1 · M2_aug in detail">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one dataset, its channels × algorithms</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R2 · A seeded search over every channel: dip_search_allch</a:t>
            </a:r>
            <a:endParaRPr lang="en-US" sz="2000" dirty="0"/>
          </a:p>
        </p:txBody>
      </p:sp>
      <p:pic>
        <p:nvPicPr>
          <p:cNvPr id="3" name="r2-1-dip-search-allch-report" descr="R2 · A seeded search over every channel: dip_search_allch">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report; the human reference on top, this run below</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320040" y="91440"/>
            <a:ext cx="8503920" cy="457200"/>
          </a:xfrm>
          <a:prstGeom prst="rect">
            <a:avLst/>
          </a:prstGeom>
          <a:noFill/>
          <a:ln/>
        </p:spPr>
        <p:txBody>
          <a:bodyPr wrap="square" rtlCol="0" anchor="ctr"/>
          <a:lstStyle/>
          <a:p>
            <a:pPr algn="l" indent="0" marL="0">
              <a:buNone/>
            </a:pPr>
            <a:r>
              <a:rPr lang="en-US" sz="2000" b="1" dirty="0">
                <a:solidFill>
                  <a:schemeClr val="tx1"/>
                </a:solidFill>
              </a:rPr>
              <a:t>R2 · A second seeded search: seed bdd3d0</a:t>
            </a:r>
            <a:endParaRPr lang="en-US" sz="2000" dirty="0"/>
          </a:p>
        </p:txBody>
      </p:sp>
      <p:pic>
        <p:nvPicPr>
          <p:cNvPr id="3" name="r2-2-seed-bdd3d0-report" descr="R2 · A second seeded search: seed bdd3d0">    </p:cNvPr>
          <p:cNvPicPr>
            <a:picLocks noChangeAspect="1"/>
          </p:cNvPicPr>
          <p:nvPr/>
        </p:nvPicPr>
        <p:blipFill>
          <a:blip r:embed="rId1"/>
          <a:stretch>
            <a:fillRect/>
          </a:stretch>
        </p:blipFill>
        <p:spPr>
          <a:xfrm>
            <a:off x="320040" y="594360"/>
            <a:ext cx="7680960" cy="4320540"/>
          </a:xfrm>
          <a:prstGeom prst="rect">
            <a:avLst/>
          </a:prstGeom>
        </p:spPr>
      </p:pic>
      <p:sp>
        <p:nvSpPr>
          <p:cNvPr id="4" name="Text 0"/>
          <p:cNvSpPr/>
          <p:nvPr>
            <p:ph idx="101" type="body" hasCustomPrompt="1"/>
          </p:nvPr>
        </p:nvSpPr>
        <p:spPr>
          <a:xfrm>
            <a:off x="320040" y="4800600"/>
            <a:ext cx="8138160" cy="274320"/>
          </a:xfrm>
          <a:prstGeom prst="rect">
            <a:avLst/>
          </a:prstGeom>
          <a:noFill/>
          <a:ln/>
        </p:spPr>
        <p:txBody>
          <a:bodyPr wrap="square" rtlCol="0" anchor="ctr"/>
          <a:lstStyle/>
          <a:p>
            <a:pPr indent="0" marL="0">
              <a:buNone/>
            </a:pPr>
            <a:r>
              <a:rPr lang="en-US" sz="1100" dirty="0">
                <a:solidFill>
                  <a:schemeClr val="accent6"/>
                </a:solidFill>
              </a:rPr>
              <a:t>report</a:t>
            </a:r>
            <a:endParaRPr lang="en-US" sz="11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ctr"/>
          <a:lstStyle/>
          <a:p>
            <a:pPr algn="l" indent="0" marL="0">
              <a:buNone/>
            </a:pPr>
            <a:r>
              <a:rPr lang="en-US" sz="2800" b="1" dirty="0">
                <a:solidFill>
                  <a:schemeClr val="tx1"/>
                </a:solidFill>
              </a:rPr>
              <a:t>R3 · About one candidate in four is worth a look</a:t>
            </a:r>
            <a:endParaRPr lang="en-US" sz="2800" dirty="0"/>
          </a:p>
        </p:txBody>
      </p:sp>
      <p:graphicFrame>
        <p:nvGraphicFramePr>
          <p:cNvPr id="3" name="Chart 0" descr=""/>
          <p:cNvGraphicFramePr/>
          <p:nvPr/>
        </p:nvGraphicFramePr>
        <p:xfrm>
          <a:off x="45720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943600" y="1143000"/>
            <a:ext cx="27432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24.6 %</a:t>
            </a:r>
            <a:endParaRPr lang="en-US" sz="4000" dirty="0"/>
          </a:p>
        </p:txBody>
      </p:sp>
      <p:sp>
        <p:nvSpPr>
          <p:cNvPr id="5" name="Text 2"/>
          <p:cNvSpPr txBox="1"/>
          <p:nvPr/>
        </p:nvSpPr>
        <p:spPr>
          <a:xfrm>
            <a:off x="5943600" y="1874520"/>
            <a:ext cx="2743200" cy="914400"/>
          </a:xfrm>
          <a:prstGeom prst="rect">
            <a:avLst/>
          </a:prstGeom>
          <a:noFill/>
          <a:ln/>
        </p:spPr>
        <p:txBody>
          <a:bodyPr wrap="square" lIns="0" tIns="0" rIns="0" bIns="0" rtlCol="0" anchor="t"/>
          <a:lstStyle/>
          <a:p>
            <a:pPr indent="0" marL="0">
              <a:buNone/>
            </a:pPr>
            <a:r>
              <a:rPr lang="en-US" sz="1300" dirty="0">
                <a:solidFill>
                  <a:schemeClr val="tx1"/>
                </a:solidFill>
              </a:rPr>
              <a:t>of the 1.5 million unjudged candidate events on M2_aug are estimated interesting (95 % CI 21-28 %)</a:t>
            </a:r>
            <a:endParaRPr lang="en-US" sz="1300" dirty="0"/>
          </a:p>
        </p:txBody>
      </p:sp>
      <p:sp>
        <p:nvSpPr>
          <p:cNvPr id="6" name="Text 3"/>
          <p:cNvSpPr txBox="1"/>
          <p:nvPr/>
        </p:nvSpPr>
        <p:spPr>
          <a:xfrm>
            <a:off x="5943600" y="2880360"/>
            <a:ext cx="2743200" cy="1645920"/>
          </a:xfrm>
          <a:prstGeom prst="rect">
            <a:avLst/>
          </a:prstGeom>
          <a:noFill/>
          <a:ln/>
        </p:spPr>
        <p:txBody>
          <a:bodyPr wrap="square" lIns="0" tIns="0" rIns="0" bIns="0" rtlCol="0" anchor="t"/>
          <a:lstStyle/>
          <a:p>
            <a:pPr indent="0" marL="0">
              <a:buNone/>
            </a:pPr>
            <a:r>
              <a:rPr lang="en-US" sz="1200" dirty="0">
                <a:solidFill>
                  <a:schemeClr val="tx2"/>
                </a:solidFill>
              </a:rPr>
              <a:t>from 754 blind verdicts in Review queue 25, a stratified sample · bootstrap 1000×. Agreement is the strongest single sign: below 5 agreeing families almost nothing is interesting.</a:t>
            </a:r>
            <a:endParaRPr lang="en-US" sz="12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ctr"/>
          <a:lstStyle/>
          <a:p>
            <a:pPr algn="l" indent="0" marL="0">
              <a:buNone/>
            </a:pPr>
            <a:r>
              <a:rPr lang="en-US" sz="2800" b="1" dirty="0">
                <a:solidFill>
                  <a:schemeClr val="tx1"/>
                </a:solidFill>
              </a:rPr>
              <a:t>R4 · Shape now beats the detectors’ vote</a:t>
            </a:r>
            <a:endParaRPr lang="en-US" sz="2800" dirty="0"/>
          </a:p>
        </p:txBody>
      </p:sp>
      <p:graphicFrame>
        <p:nvGraphicFramePr>
          <p:cNvPr id="3" name="Chart 0" descr=""/>
          <p:cNvGraphicFramePr/>
          <p:nvPr/>
        </p:nvGraphicFramePr>
        <p:xfrm>
          <a:off x="457200" y="105156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760720" y="1097280"/>
            <a:ext cx="292608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0.97</a:t>
            </a:r>
            <a:endParaRPr lang="en-US" sz="4000" dirty="0"/>
          </a:p>
        </p:txBody>
      </p:sp>
      <p:sp>
        <p:nvSpPr>
          <p:cNvPr id="5" name="Text 2"/>
          <p:cNvSpPr txBox="1"/>
          <p:nvPr/>
        </p:nvSpPr>
        <p:spPr>
          <a:xfrm>
            <a:off x="5760720" y="1828800"/>
            <a:ext cx="2926080" cy="822960"/>
          </a:xfrm>
          <a:prstGeom prst="rect">
            <a:avLst/>
          </a:prstGeom>
          <a:noFill/>
          <a:ln/>
        </p:spPr>
        <p:txBody>
          <a:bodyPr wrap="square" lIns="0" tIns="0" rIns="0" bIns="0" rtlCol="0" anchor="t"/>
          <a:lstStyle/>
          <a:p>
            <a:pPr indent="0" marL="0">
              <a:buNone/>
            </a:pPr>
            <a:r>
              <a:rPr lang="en-US" sz="1300" dirty="0">
                <a:solidFill>
                  <a:schemeClr val="tx1"/>
                </a:solidFill>
              </a:rPr>
              <a:t>AUC on recordings it never saw (balanced accuracy 0.92); 0.95–0.99 for each recording held out in turn</a:t>
            </a:r>
            <a:endParaRPr lang="en-US" sz="1300" dirty="0"/>
          </a:p>
        </p:txBody>
      </p:sp>
      <p:sp>
        <p:nvSpPr>
          <p:cNvPr id="6" name="Text 3"/>
          <p:cNvSpPr txBox="1"/>
          <p:nvPr/>
        </p:nvSpPr>
        <p:spPr>
          <a:xfrm>
            <a:off x="5760720" y="2743200"/>
            <a:ext cx="2926080" cy="1828800"/>
          </a:xfrm>
          <a:prstGeom prst="rect">
            <a:avLst/>
          </a:prstGeom>
          <a:noFill/>
          <a:ln/>
        </p:spPr>
        <p:txBody>
          <a:bodyPr wrap="square" lIns="0" tIns="0" rIns="0" bIns="0" rtlCol="0" anchor="t"/>
          <a:lstStyle/>
          <a:p>
            <a:pPr indent="0" marL="0">
              <a:buNone/>
            </a:pPr>
            <a:r>
              <a:rPr lang="en-US" sz="1200" dirty="0">
                <a:solidFill>
                  <a:schemeClr val="tx2"/>
                </a:solidFill>
              </a:rPr>
              <a:t>Trained on 2,456 judged events and 3,000 windows from five recordings, each held out in turn. It still separates interesting from not within each detector family (AUC 0.88–0.99), so it judges the shape, not which detector found it.</a:t>
            </a:r>
            <a:endParaRPr lang="en-US" sz="1200" dirty="0"/>
          </a:p>
        </p:txBody>
      </p:sp>
      <p:sp>
        <p:nvSpPr>
          <p:cNvPr id="25" name="Slide Number Placeholder 0"/>
          <p:cNvSpPr>
            <a:spLocks noGrp="1"/>
          </p:cNvSpPr>
          <p:nvPr>
            <p:ph type="sldNum" sz="quarter" idx="4294967295"/>
          </p:nvPr>
        </p:nvSpPr>
        <p:spPr>
          <a:xfrm>
            <a:off x="850392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accent3"/>
                </a:solidFill>
              </a:rPr>
              <a:t>Questions</a:t>
            </a:r>
            <a:endParaRPr lang="en-US" sz="1800" dirty="0"/>
          </a:p>
        </p:txBody>
      </p:sp>
    </p:spTree>
  </p:cSld>
  <p:clrMapOvr>
    <a:masterClrMapping/>
  </p:clrMapOvr>
</p:sld>
</file>

<file path=ppt/theme/theme1.xml><?xml version="1.0" encoding="utf-8"?>
<a:theme xmlns:a="http://schemas.openxmlformats.org/drawingml/2006/main" name="Mycelium">
  <a:themeElements>
    <a:clrScheme name="Mycelium">
      <a:dk1>
        <a:srgbClr val="1F1A17"/>
      </a:dk1>
      <a:lt1>
        <a:srgbClr val="FFFFFF"/>
      </a:lt1>
      <a:dk2>
        <a:srgbClr val="2E2622"/>
      </a:dk2>
      <a:lt2>
        <a:srgbClr val="EEF2EE"/>
      </a:lt2>
      <a:accent1>
        <a:srgbClr val="3E8E5E"/>
      </a:accent1>
      <a:accent2>
        <a:srgbClr val="D9893B"/>
      </a:accent2>
      <a:accent3>
        <a:srgbClr val="7BD389"/>
      </a:accent3>
      <a:accent4>
        <a:srgbClr val="5B6E8C"/>
      </a:accent4>
      <a:accent5>
        <a:srgbClr val="A65E4E"/>
      </a:accent5>
      <a:accent6>
        <a:srgbClr val="8C8C84"/>
      </a:accent6>
      <a:hlink>
        <a:srgbClr val="3E8E5E"/>
      </a:hlink>
      <a:folHlink>
        <a:srgbClr val="5B6E8C"/>
      </a:folHlink>
    </a:clrScheme>
    <a:fontScheme name="Myceliu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Underground Brains - backup screenshots</dc:title>
  <dc:subject>PptxGenJS Presentation</dc:subject>
  <dc:creator>PptxGenJS</dc:creator>
  <cp:lastModifiedBy>PptxGenJS</cp:lastModifiedBy>
  <cp:revision>1</cp:revision>
  <dcterms:created xsi:type="dcterms:W3CDTF">2026-10-21T03:21:41Z</dcterms:created>
  <dcterms:modified xsi:type="dcterms:W3CDTF">2026-10-21T03:21:41Z</dcterms:modified>
</cp:coreProperties>
</file>