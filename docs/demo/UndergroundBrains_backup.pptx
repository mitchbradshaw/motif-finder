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3d2d6e0-9622-2530-6f6a-842b8f1f22dc}">
          <p14:sldIdLst>
            <p14:sldId id="256"/>
          </p14:sldIdLst>
        </p14:section>
        <p14:section name="Walkthrough 1" id="{af514638-5d5e-7343-212f-0c9dc2a93199}">
          <p14:sldIdLst>
            <p14:sldId id="257"/>
            <p14:sldId id="258"/>
            <p14:sldId id="259"/>
            <p14:sldId id="260"/>
            <p14:sldId id="261"/>
          </p14:sldIdLst>
        </p14:section>
        <p14:section name="Walkthrough 2" id="{3c86c08d-1926-940e-acc0-440abd9c86a7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Walkthrough 3" id="{daaccb36-aaa7-4aa8-8c64-3a79be67273a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Results" id="{dbf35d46-50ba-eb2b-35bc-a1f33c66f15a}">
          <p14:sldIdLst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lose" id="{cc6443b9-8d76-e9b0-7555-18e1278ab36f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A1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1A17"/>
                </a:solidFill>
                <a:latin typeface="+mn-lt"/>
              </a:rPr>
              <a:t>share judged interesting, by how many detector families agree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3E8E5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1-2 agree</c:v>
                  </c:pt>
                  <c:pt idx="1">
                    <c:v>3-4 agree</c:v>
                  </c:pt>
                  <c:pt idx="2">
                    <c:v>5-6 agree</c:v>
                  </c:pt>
                  <c:pt idx="3">
                    <c:v>7-8 agree</c:v>
                  </c:pt>
                  <c:pt idx="4">
                    <c:v>9+ agree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6</c:v>
                </c:pt>
                <c:pt idx="2">
                  <c:v>22</c:v>
                </c:pt>
                <c:pt idx="3">
                  <c:v>54</c:v>
                </c:pt>
                <c:pt idx="4">
                  <c:v>59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5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3E6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5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only if the live site fails. Every slide is the same step as the live click script in docs/DEMO_DAY.md.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DATA/derived/candidate_events/M2_aug_concat_fs1_bf098c00/sample_seed0_l100_f50/estimate.json. CIs per stratum: 1-2: 1-8 % (n=95); 3-4: 2-10 % (n=107); 5-6: 15-30 % (n=126); 7-8: 46-63 % (n=178); 9+: 50-67 % (n=248)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docs/rq_roundA_2/findings/rq1b-minirocket-preliminary.md and its ROC figure. Preliminary: not the family classifier, not the exam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2004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Underground Brains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Backup: the live walk-through as screenshots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M2_aug, channel CH4_A2, hours 377-381 · taken 20 October 2026 from the real database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Walkthrough 1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Open a span in Explore, analyse it, see the spikes and their intervals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Explore · Signal: the four-hour span on CH4_A2</a:t>
            </a:r>
            <a:endParaRPr lang="en-US" sz="2000" dirty="0"/>
          </a:p>
        </p:txBody>
      </p:sp>
      <p:pic>
        <p:nvPicPr>
          <p:cNvPr id="3" name="w1-2-signal-span" descr="Explore · Signal: the four-hour span on CH4_A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94360"/>
            <a:ext cx="7680960" cy="43205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004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M2_aug_concat_fs1 · CH4_A2 · 377-381 h · saved as the span "demo · W1/W2 span"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Open in Analyse: the span becomes the chain source</a:t>
            </a:r>
            <a:endParaRPr lang="en-US" sz="2000" dirty="0"/>
          </a:p>
        </p:txBody>
      </p:sp>
      <p:pic>
        <p:nvPicPr>
          <p:cNvPr id="3" name="w1-3-analyse-source" descr="Open in Analyse: the span becomes the chain sour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94360"/>
            <a:ext cx="7680960" cy="43205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004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one click; the span travels with its exact samples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Spike route: invert, detrend, encode, detect, shape, intervals</a:t>
            </a:r>
            <a:endParaRPr lang="en-US" sz="2000" dirty="0"/>
          </a:p>
        </p:txBody>
      </p:sp>
      <p:pic>
        <p:nvPicPr>
          <p:cNvPr id="3" name="w1-4-spike-event-features" descr="Spike route: invert, detrend, encode, detect, shape, interva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94360"/>
            <a:ext cx="7680960" cy="43205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004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template spike_event_features · 9 spikes · inter-spike intervals at the end of the chain · ~1-2 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Wavelet route: CWT ridges, event shape, intervals</a:t>
            </a:r>
            <a:endParaRPr lang="en-US" sz="2000" dirty="0"/>
          </a:p>
        </p:txBody>
      </p:sp>
      <p:pic>
        <p:nvPicPr>
          <p:cNvPr id="3" name="w1-5-cwt-events" descr="Wavelet route: CWT ridges, event shape, interva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94360"/>
            <a:ext cx="7680960" cy="43205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004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template cwt_events · 11 events · ~1 s from the step cache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Walkthrough 2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Build a detector, save it, apply it with its null, judge the result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Build: detrend, symbolic encoding, drop detection</a:t>
            </a:r>
            <a:endParaRPr lang="en-US" sz="2000" dirty="0"/>
          </a:p>
        </p:txBody>
      </p:sp>
      <p:pic>
        <p:nvPicPr>
          <p:cNvPr id="3" name="w2-1-drop-detector-chain" descr="Build: detrend, symbolic encoding, drop det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94360"/>
            <a:ext cx="7680960" cy="43205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004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six drops on the span · saved as the template "demo · drop detector"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Library · Templates: the saved chain sits beside the built-ins</a:t>
            </a:r>
            <a:endParaRPr lang="en-US" sz="2000" dirty="0"/>
          </a:p>
        </p:txBody>
      </p:sp>
      <p:pic>
        <p:nvPicPr>
          <p:cNvPr id="3" name="w2-2-template-saved" descr="Library · Templates: the saved chain sits beside the built-i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94360"/>
            <a:ext cx="7680960" cy="43205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004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versions and scores per template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Discovery · Runs: the template applied to five channels, 721 h</a:t>
            </a:r>
            <a:endParaRPr lang="en-US" sz="2000" dirty="0"/>
          </a:p>
        </p:txBody>
      </p:sp>
      <p:pic>
        <p:nvPicPr>
          <p:cNvPr id="3" name="w2-3-discovery-runs" descr="Discovery · Runs: the template applied to five channels, 721 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94360"/>
            <a:ext cx="7680960" cy="43205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004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365 detections · 20 phase-randomised null draws per channel · ~2.5 min, pre-run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Report: where it fired, against the human reference and its null</a:t>
            </a:r>
            <a:endParaRPr lang="en-US" sz="2000" dirty="0"/>
          </a:p>
        </p:txBody>
      </p:sp>
      <p:pic>
        <p:nvPicPr>
          <p:cNvPr id="3" name="w2-4-report" descr="Report: where it fired, against the human reference and its nu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94360"/>
            <a:ext cx="7680960" cy="43205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004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drawn by the server; a saved snapshot opens instantly from Reports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Review: each detection judged by a person</a:t>
            </a:r>
            <a:endParaRPr lang="en-US" sz="2000" dirty="0"/>
          </a:p>
        </p:txBody>
      </p:sp>
      <p:pic>
        <p:nvPicPr>
          <p:cNvPr id="3" name="w2-5-review" descr="Review: each detection judged by a per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94360"/>
            <a:ext cx="7680960" cy="43205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004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queue "Discovery · demo · drop detector" · 325 events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Walkthrough 3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From a Library family to new instances of its shape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Library · Atlas: families grouped by shape</a:t>
            </a:r>
            <a:endParaRPr lang="en-US" sz="2000" dirty="0"/>
          </a:p>
        </p:txBody>
      </p:sp>
      <p:pic>
        <p:nvPicPr>
          <p:cNvPr id="3" name="w3-1-atlas" descr="Library · Atlas: families grouped by sha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94360"/>
            <a:ext cx="7680960" cy="43205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004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grouping g-05 "shape families"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Family F-30: 79 members, every one judged</a:t>
            </a:r>
            <a:endParaRPr lang="en-US" sz="2000" dirty="0"/>
          </a:p>
        </p:txBody>
      </p:sp>
      <p:pic>
        <p:nvPicPr>
          <p:cNvPr id="3" name="w3-2-family-F-30" descr="Family F-30: 79 members, every one judg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94360"/>
            <a:ext cx="7680960" cy="43205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004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medoid m-191 on CH2_A1 at 442 h · Seed search in Discovery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Seed search: the medoid matched across five channels, 721 h</a:t>
            </a:r>
            <a:endParaRPr lang="en-US" sz="2000" dirty="0"/>
          </a:p>
        </p:txBody>
      </p:sp>
      <p:pic>
        <p:nvPicPr>
          <p:cNvPr id="3" name="w3-3-seed-search" descr="Seed search: the medoid matched across five channels, 721 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94360"/>
            <a:ext cx="7680960" cy="43205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004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1000 matches · the null recommends the cut · 155 kept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Kept as a run; the same search returns the same run</a:t>
            </a:r>
            <a:endParaRPr lang="en-US" sz="2000" dirty="0"/>
          </a:p>
        </p:txBody>
      </p:sp>
      <p:pic>
        <p:nvPicPr>
          <p:cNvPr id="3" name="w3-4-seed-kept" descr="Kept as a run; the same search returns the same ru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94360"/>
            <a:ext cx="7680960" cy="43205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004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seed 056a5d · 155 detections · sent unjudged to Review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Review: the matches, one at a time</a:t>
            </a:r>
            <a:endParaRPr lang="en-US" sz="2000" dirty="0"/>
          </a:p>
        </p:txBody>
      </p:sp>
      <p:pic>
        <p:nvPicPr>
          <p:cNvPr id="3" name="w3-5-review" descr="Review: the matches, one at a ti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94360"/>
            <a:ext cx="7680960" cy="43205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004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queue "demo · talk · picked from Discovery" · 149 items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Report for the seed run</a:t>
            </a:r>
            <a:endParaRPr lang="en-US" sz="2000" dirty="0"/>
          </a:p>
        </p:txBody>
      </p:sp>
      <p:pic>
        <p:nvPicPr>
          <p:cNvPr id="3" name="w3-6-report" descr="Report for the seed ru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94360"/>
            <a:ext cx="7680960" cy="43205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004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seed 056a5d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Results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R1 where each algorithm fires · R2 seeded search · R3 how many candidates are real · R4 shape vs agreement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R1 · Every dataset, every algorithm, every channel</a:t>
            </a:r>
            <a:endParaRPr lang="en-US" sz="2000" dirty="0"/>
          </a:p>
        </p:txBody>
      </p:sp>
      <p:pic>
        <p:nvPicPr>
          <p:cNvPr id="3" name="r1-1-map-overview" descr="R1 · Every dataset, every algorithm, every chan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94360"/>
            <a:ext cx="7680960" cy="43205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004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Discovery › Map, all datasets with a finished run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R1 · M2_aug in detail</a:t>
            </a:r>
            <a:endParaRPr lang="en-US" sz="2000" dirty="0"/>
          </a:p>
        </p:txBody>
      </p:sp>
      <p:pic>
        <p:nvPicPr>
          <p:cNvPr id="3" name="r1-2-map-M2_aug_concat_fs1" descr="R1 · M2_aug in det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94360"/>
            <a:ext cx="7680960" cy="43205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004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one dataset, its channels × algorithms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R2 · A seeded search over every channel: dip_search_allch</a:t>
            </a:r>
            <a:endParaRPr lang="en-US" sz="2000" dirty="0"/>
          </a:p>
        </p:txBody>
      </p:sp>
      <p:pic>
        <p:nvPicPr>
          <p:cNvPr id="3" name="r2-1-dip-search-allch-report" descr="R2 · A seeded search over every channel: dip_search_all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94360"/>
            <a:ext cx="7680960" cy="43205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004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report; the human reference on top, this run below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R2 · A second seeded search: seed bdd3d0</a:t>
            </a:r>
            <a:endParaRPr lang="en-US" sz="2000" dirty="0"/>
          </a:p>
        </p:txBody>
      </p:sp>
      <p:pic>
        <p:nvPicPr>
          <p:cNvPr id="3" name="r2-2-seed-bdd3d0-report" descr="R2 · A second seeded search: seed bdd3d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94360"/>
            <a:ext cx="7680960" cy="43205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004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R3 · About one candidate in four is worth a look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143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24.6 %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943600" y="1874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the 1.5 million unjudged candidate events on M2_aug are estimated interesting (95 % CI 21-28 %)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288036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from 754 blind verdicts in Review queue 25, a stratified sample · bootstrap 1000×. Agreement is the strongest single sign: below 5 agreeing families almost nothing is interesting.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R4 · Shape alone does not beat the vote yet</a:t>
            </a:r>
            <a:endParaRPr lang="en-US" sz="2800" dirty="0"/>
          </a:p>
        </p:txBody>
      </p:sp>
      <p:pic>
        <p:nvPicPr>
          <p:cNvPr id="3" name="roc" descr="ROC curves: MiniRocket vs agreement cou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25196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120640" y="1097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537960" y="1097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AUC · detector agreement count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1828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537960" y="1828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AUC · MiniRocket on the trace’s shape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560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AUC · both together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33832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 722 blind verdicts (queue 25). The labels are few for MiniRocket, and "interesting or not" is what agreement measures well; the family classifier needs class labels and more examples, and that is the next step.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Questions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celium">
  <a:themeElements>
    <a:clrScheme name="Mycelium">
      <a:dk1>
        <a:srgbClr val="1F1A17"/>
      </a:dk1>
      <a:lt1>
        <a:srgbClr val="FFFFFF"/>
      </a:lt1>
      <a:dk2>
        <a:srgbClr val="2E2622"/>
      </a:dk2>
      <a:lt2>
        <a:srgbClr val="EEF2EE"/>
      </a:lt2>
      <a:accent1>
        <a:srgbClr val="3E8E5E"/>
      </a:accent1>
      <a:accent2>
        <a:srgbClr val="D9893B"/>
      </a:accent2>
      <a:accent3>
        <a:srgbClr val="7BD389"/>
      </a:accent3>
      <a:accent4>
        <a:srgbClr val="5B6E8C"/>
      </a:accent4>
      <a:accent5>
        <a:srgbClr val="A65E4E"/>
      </a:accent5>
      <a:accent6>
        <a:srgbClr val="8C8C84"/>
      </a:accent6>
      <a:hlink>
        <a:srgbClr val="3E8E5E"/>
      </a:hlink>
      <a:folHlink>
        <a:srgbClr val="5B6E8C"/>
      </a:folHlink>
    </a:clrScheme>
    <a:fontScheme name="Myceliu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Underground Brains - backup screenshots</dc:title>
  <dc:subject>PptxGenJS Presentation</dc:subject>
  <dc:creator>PptxGenJS</dc:creator>
  <cp:lastModifiedBy>PptxGenJS</cp:lastModifiedBy>
  <cp:revision>1</cp:revision>
  <dcterms:created xsi:type="dcterms:W3CDTF">2026-10-20T04:52:48Z</dcterms:created>
  <dcterms:modified xsi:type="dcterms:W3CDTF">2026-10-20T04:52:48Z</dcterms:modified>
</cp:coreProperties>
</file>